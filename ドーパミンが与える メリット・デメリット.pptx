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Noto Sans JP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otoSansJP-bold.fntdata"/><Relationship Id="rId12" Type="http://schemas.openxmlformats.org/officeDocument/2006/relationships/font" Target="fonts/NotoSansJP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594360" y="651052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Noto Sans JP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DOPAMINE / 2026</a:t>
            </a:r>
            <a:endParaRPr b="0" i="0" sz="8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640080" y="65836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JP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353312" y="71323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JP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BRAIN / REWARD / LEARNING</a:t>
            </a:r>
            <a:endParaRPr b="0" i="0" sz="11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58368" y="1600200"/>
            <a:ext cx="10698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JP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ドーパミンが与える</a:t>
            </a:r>
            <a:endParaRPr b="0" i="0" sz="3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JP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メリット・デメリット</a:t>
            </a:r>
            <a:endParaRPr b="0" i="0" sz="3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85800" y="331012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JP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「快楽物質」だけでは語れない、動機づけ・学習・行動との関係</a:t>
            </a:r>
            <a:endParaRPr b="0" i="0" sz="17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85800" y="4041648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ドーパミンは、私たちを動かすために必要な神経伝達物質です。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重要なのは「多ければ良い」ではなく、いつ・どこで・何に反応するかです。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" name="Google Shape;25;p4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28000" y="6431950"/>
            <a:ext cx="13242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280150" y="64925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621792" y="5669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JP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61288" y="6035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JP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BASIC</a:t>
            </a:r>
            <a:endParaRPr b="0" i="0" sz="10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21792" y="105156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JP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ドーパミンとは？</a:t>
            </a:r>
            <a:endParaRPr b="0" i="0" sz="3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oto Sans JP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脳の中で働く神経伝達物質のひとつ。さまざまな回路で役割が異なります。</a:t>
            </a:r>
            <a:endParaRPr b="0" i="0" sz="14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85800" y="256032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主な役割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85800" y="3035808"/>
            <a:ext cx="5212080" cy="1947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JP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・動機づけ：目標へ向かう行動を後押しする</a:t>
            </a:r>
            <a:endParaRPr b="0" i="0" sz="2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JP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・学習：結果が予想と違ったとき、次の行動の学習に関わる</a:t>
            </a:r>
            <a:endParaRPr b="0" i="0" sz="2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JP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・運動：運動の開始や調整に関わる</a:t>
            </a:r>
            <a:endParaRPr b="0" i="0" sz="2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355080" y="2560320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重要なポイント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355080" y="3035808"/>
            <a:ext cx="5074920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JP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ドーパミンは「快楽そのもの」ではありません。</a:t>
            </a:r>
            <a:endParaRPr b="0" i="0" sz="2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JP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報酬の予測、動機づけ、学習、運動などを含む、複数の機能に関わっています。</a:t>
            </a:r>
            <a:endParaRPr b="0" i="0" sz="2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1" name="Google Shape;41;p5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63650" y="603525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04825" y="638995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21792" y="5669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JP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161288" y="6035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JP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BENEFITS</a:t>
            </a:r>
            <a:endParaRPr b="0" i="0" sz="10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21792" y="105156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JP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ドーパミンがあることのメリット</a:t>
            </a:r>
            <a:endParaRPr b="0" i="0" sz="3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oto Sans JP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正常な働きは、「やる気」「学ぶ」「動く」を支えます。</a:t>
            </a:r>
            <a:endParaRPr b="0" i="0" sz="14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85800" y="2606040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01  行動を始める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85800" y="3081528"/>
            <a:ext cx="516636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目標や報酬に向かうための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動機づけ・行動の活性化に関与。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355080" y="260604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02  学習する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355080" y="3081528"/>
            <a:ext cx="51206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「予想より良かった／悪かった」などの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結果を手がかりに、次の行動の学習を助ける。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85800" y="4434840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03  動きを調整する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85800" y="4910328"/>
            <a:ext cx="51663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運動回路で重要な役割を担い、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身体を動かす機能に関係する。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355080" y="443484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04  習慣をつくる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355080" y="4910328"/>
            <a:ext cx="51206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報酬と行動の結びつきを強めることで、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繰り返しの行動が学習される。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382512" y="60533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Noto Sans JP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出典：Wise, 2004 / Cox &amp; Witten, 2019 / Berke, 2018</a:t>
            </a:r>
            <a:endParaRPr b="0" i="0" sz="9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2" name="Google Shape;62;p6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161300" y="521225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213750" y="5998499"/>
            <a:ext cx="9273300" cy="9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621792" y="5669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JP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161288" y="6035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JP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RISKS</a:t>
            </a:r>
            <a:endParaRPr b="0" i="0" sz="10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21792" y="105156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JP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デメリットは「ドーパミン」そのものではない</a:t>
            </a:r>
            <a:endParaRPr b="0" i="0" sz="3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oto Sans JP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強い報酬刺激が繰り返されると、報酬を予測する手がかりや習慣に影響することがあります。</a:t>
            </a:r>
            <a:endParaRPr b="0" i="0" sz="14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5800" y="2578608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繰り返しやすくなる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85800" y="3054096"/>
            <a:ext cx="516636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強い報酬と結びついた通知・画面・場所などが、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「またやりたい」という行動のきっかけになり得ます。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55080" y="2578608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他の報酬とのバランス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355080" y="3054096"/>
            <a:ext cx="51206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特定の報酬を繰り返すことで、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別の刺激への反応や自己調整に影響する場合があります。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85800" y="45902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習慣・依存の問題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85800" y="5065776"/>
            <a:ext cx="107899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薬物などの反復使用では、報酬・動機づけ・自己制御に関わる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脳回路の変化が起こり、強迫的な行動につながることがあります。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85800" y="58978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Noto Sans JP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「ドーパミンが増えすぎるから悪い」という単純な説明は正確ではありません。</a:t>
            </a:r>
            <a:endParaRPr b="0" i="0" sz="12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1" name="Google Shape;81;p7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124700" y="56695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263575" y="638250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621792" y="5669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JP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161288" y="6035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JP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EVERYDAY</a:t>
            </a:r>
            <a:endParaRPr b="0" i="0" sz="10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621792" y="105156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JP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日常生活ではどう見える？</a:t>
            </a:r>
            <a:endParaRPr b="0" i="0" sz="3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oto Sans JP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「すぐに結果が返ってくる行動」は、繰り返しの習慣になりやすい。</a:t>
            </a:r>
            <a:endParaRPr b="0" i="0" sz="14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85800" y="260604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即時報酬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85800" y="3081528"/>
            <a:ext cx="5212080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通知を見る → すぐ新しい情報が出る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ゲームをする → 勝敗や報酬がすぐ返ってくる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短い動画を見る → 次の刺激がすぐ始まる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355080" y="2606040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遅れて報酬が返る行動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355080" y="3081528"/>
            <a:ext cx="5074920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勉強する → 成果が後から現れる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運動する → 体力や技能の変化が後から現れる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作品を作る → 完成まで時間がかかる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85800" y="576072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JP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ポイント：環境を整えて「望ましい行動にも報酬が返る」設計にすると、習慣づくりを助けられます。</a:t>
            </a:r>
            <a:endParaRPr b="0" i="0" sz="14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8" name="Google Shape;98;p8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124700" y="603525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220275" y="641910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621792" y="5669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JP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1161288" y="6035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JP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MISCONCEPTIONS</a:t>
            </a:r>
            <a:endParaRPr b="0" i="0" sz="10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21792" y="105156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JP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よくある誤解</a:t>
            </a:r>
            <a:endParaRPr b="0" i="0" sz="3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oto Sans JP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シンプルな言い方ほど、実際の脳の働きから離れてしまうことがあります。</a:t>
            </a:r>
            <a:endParaRPr b="0" i="0" sz="14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85800" y="2606040"/>
            <a:ext cx="5257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「ドーパミン＝快楽物質」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85800" y="3081528"/>
            <a:ext cx="525780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× それだけではない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○ 動機づけ・学習・報酬予測・運動などに関与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355080" y="2606040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「ドーパミンが多いほど良い」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6355080" y="3081528"/>
            <a:ext cx="507492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× 単純な量の問題ではない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○ 回路・受容体・タイミング・状況によって働きが変わる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85800" y="4617720"/>
            <a:ext cx="10744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「ドーパミンを断てば健康になる」</a:t>
            </a:r>
            <a:endParaRPr b="0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685800" y="5093208"/>
            <a:ext cx="10744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× ドーパミンは生存や学習に必要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○ 見直すなら、刺激への接触量や環境・習慣を考える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6382512" y="60533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Noto Sans JP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出典：Berke, 2018 / Kahnt &amp; Schoenbaum, 2025</a:t>
            </a:r>
            <a:endParaRPr b="0" i="0" sz="9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7" name="Google Shape;117;p9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124700" y="539513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321300" y="632765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6217575" y="5998504"/>
            <a:ext cx="32037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621792" y="5669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JP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1161288" y="6035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JP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TAKEAWAY</a:t>
            </a:r>
            <a:endParaRPr b="0" i="0" sz="10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621792" y="105156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JP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覚えておきたい3つ</a:t>
            </a:r>
            <a:endParaRPr b="0" i="0" sz="30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oto Sans JP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ドーパミンを「敵」にするのではなく、働きを理解して環境を設計する。</a:t>
            </a:r>
            <a:endParaRPr b="0" i="0" sz="145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713232" y="2633472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01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508760" y="2615184"/>
            <a:ext cx="9692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JP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ドーパミンは、やる気・学習・運動などに必要な仕組みの一部。</a:t>
            </a:r>
            <a:endParaRPr b="0" i="0" sz="22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713232" y="3675888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02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1508760" y="365760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問題になるのは「ドーパミンがあること」ではなく、報酬系の偏りや習慣化の影響。</a:t>
            </a:r>
            <a:endParaRPr b="0" i="0" sz="21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713232" y="4828032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JP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03</a:t>
            </a:r>
            <a:endParaRPr b="0" i="0" sz="19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1508760" y="4809744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短期的な刺激だけでなく、勉強・運動・創作などにも小さな達成感を組み込む。</a:t>
            </a:r>
            <a:endParaRPr b="0" i="0" sz="21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6" name="Google Shape;136;p10"/>
          <p:cNvSpPr txBox="1"/>
          <p:nvPr>
            <p:ph idx="4294967295" type="sldNum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321300" y="632765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1065425" y="466400"/>
            <a:ext cx="2382900" cy="3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